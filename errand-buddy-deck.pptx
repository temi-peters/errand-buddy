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image" Target="../media/image-5-6.png"/><Relationship Id="rId7" Type="http://schemas.openxmlformats.org/officeDocument/2006/relationships/image" Target="../media/image-5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image" Target="../media/image-6-6.png"/><Relationship Id="rId7" Type="http://schemas.openxmlformats.org/officeDocument/2006/relationships/image" Target="../media/image-6-7.png"/><Relationship Id="rId8" Type="http://schemas.openxmlformats.org/officeDocument/2006/relationships/image" Target="../media/image-6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image" Target="../media/image-8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3A5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02920" cy="5143500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3" name="Shape 1"/>
          <p:cNvSpPr/>
          <p:nvPr/>
        </p:nvSpPr>
        <p:spPr>
          <a:xfrm>
            <a:off x="6583680" y="2926080"/>
            <a:ext cx="3200400" cy="3200400"/>
          </a:xfrm>
          <a:prstGeom prst="ellipse">
            <a:avLst/>
          </a:prstGeom>
          <a:solidFill>
            <a:srgbClr val="0D9488">
              <a:alpha val="1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7132320" y="3474720"/>
            <a:ext cx="2103120" cy="2103120"/>
          </a:xfrm>
          <a:prstGeom prst="ellipse">
            <a:avLst/>
          </a:prstGeom>
          <a:solidFill>
            <a:srgbClr val="0D9488">
              <a:alpha val="30000"/>
            </a:srgbClr>
          </a:solidFill>
          <a:ln/>
        </p:spPr>
      </p:sp>
      <p:sp>
        <p:nvSpPr>
          <p:cNvPr id="5" name="Text 3"/>
          <p:cNvSpPr/>
          <p:nvPr/>
        </p:nvSpPr>
        <p:spPr>
          <a:xfrm>
            <a:off x="777240" y="1188720"/>
            <a:ext cx="6400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Errand Buddy</a:t>
            </a:r>
            <a:endParaRPr lang="en-US" sz="5200" dirty="0"/>
          </a:p>
        </p:txBody>
      </p:sp>
      <p:sp>
        <p:nvSpPr>
          <p:cNvPr id="6" name="Text 4"/>
          <p:cNvSpPr/>
          <p:nvPr/>
        </p:nvSpPr>
        <p:spPr>
          <a:xfrm>
            <a:off x="777240" y="2286000"/>
            <a:ext cx="6858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CCFB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Connecting communities to trusted local runners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777240" y="2971800"/>
            <a:ext cx="3200400" cy="36576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8" name="Text 6"/>
          <p:cNvSpPr/>
          <p:nvPr/>
        </p:nvSpPr>
        <p:spPr>
          <a:xfrm>
            <a:off x="777240" y="315468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Community Partners Showcase  ·  2026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64592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Problem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57200" y="11430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many people, everyday errands are anything but simple.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320040" y="1783080"/>
            <a:ext cx="2651760" cy="265176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20040" y="1783080"/>
            <a:ext cx="64008" cy="2651760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7" name="Text 5"/>
          <p:cNvSpPr/>
          <p:nvPr/>
        </p:nvSpPr>
        <p:spPr>
          <a:xfrm>
            <a:off x="484632" y="1874520"/>
            <a:ext cx="2331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Elderly &amp; less mobile residents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484632" y="2423160"/>
            <a:ext cx="233172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Grocery runs, prescription pickups and dry cleaning become major obstacles without reliable transport or physical ability.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3200400" y="1783080"/>
            <a:ext cx="2651760" cy="265176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200400" y="1783080"/>
            <a:ext cx="64008" cy="2651760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11" name="Text 9"/>
          <p:cNvSpPr/>
          <p:nvPr/>
        </p:nvSpPr>
        <p:spPr>
          <a:xfrm>
            <a:off x="3364992" y="1874520"/>
            <a:ext cx="2331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People managing health conditions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3364992" y="2423160"/>
            <a:ext cx="233172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Chronic illness and recovery make leaving home difficult — yet essential tasks still pile up.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080760" y="1783080"/>
            <a:ext cx="2651760" cy="265176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6080760" y="1783080"/>
            <a:ext cx="64008" cy="2651760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15" name="Text 13"/>
          <p:cNvSpPr/>
          <p:nvPr/>
        </p:nvSpPr>
        <p:spPr>
          <a:xfrm>
            <a:off x="6245352" y="1874520"/>
            <a:ext cx="2331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Stretched carers &amp; families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6245352" y="2423160"/>
            <a:ext cx="233172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Family members juggling work and care responsibilities often can't cover every errand, leading to unmet needs.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320040" y="4617720"/>
            <a:ext cx="8503920" cy="384048"/>
          </a:xfrm>
          <a:prstGeom prst="rect">
            <a:avLst/>
          </a:prstGeom>
          <a:solidFill>
            <a:srgbClr val="CCFBF1"/>
          </a:solidFill>
          <a:ln/>
        </p:spPr>
      </p:sp>
      <p:sp>
        <p:nvSpPr>
          <p:cNvPr id="18" name="Text 16"/>
          <p:cNvSpPr/>
          <p:nvPr/>
        </p:nvSpPr>
        <p:spPr>
          <a:xfrm>
            <a:off x="502920" y="4636008"/>
            <a:ext cx="8229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Community organisations are already doing this work — but manually, and at scale it doesn't hold up.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E3A5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0" y="-457200"/>
            <a:ext cx="4572000" cy="4572000"/>
          </a:xfrm>
          <a:prstGeom prst="ellipse">
            <a:avLst/>
          </a:prstGeom>
          <a:solidFill>
            <a:srgbClr val="0D9488">
              <a:alpha val="20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57200"/>
            <a:ext cx="7315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Meet Errand Buddy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548640" y="1325880"/>
            <a:ext cx="6858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CFB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trusted marketplace that connects local residents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CCFB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need help with errands to vetted, reliable local runners.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457200" y="2468880"/>
            <a:ext cx="2560320" cy="2331720"/>
          </a:xfrm>
          <a:prstGeom prst="rect">
            <a:avLst/>
          </a:prstGeom>
          <a:solidFill>
            <a:srgbClr val="0D9488">
              <a:alpha val="25000"/>
            </a:srgbClr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2633472"/>
            <a:ext cx="411480" cy="41148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94360" y="310896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Vetted runners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594360" y="3566160"/>
            <a:ext cx="22860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CFB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runner is reviewed and approved before taking on bookings.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3291840" y="2468880"/>
            <a:ext cx="2560320" cy="2331720"/>
          </a:xfrm>
          <a:prstGeom prst="rect">
            <a:avLst/>
          </a:prstGeom>
          <a:solidFill>
            <a:srgbClr val="0D9488">
              <a:alpha val="25000"/>
            </a:srgbClr>
          </a:solidFill>
          <a:ln/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74720" y="2633472"/>
            <a:ext cx="411480" cy="411480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3429000" y="310896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Simple booking</a:t>
            </a:r>
            <a:endParaRPr lang="en-US" sz="1300" dirty="0"/>
          </a:p>
        </p:txBody>
      </p:sp>
      <p:sp>
        <p:nvSpPr>
          <p:cNvPr id="12" name="Text 8"/>
          <p:cNvSpPr/>
          <p:nvPr/>
        </p:nvSpPr>
        <p:spPr>
          <a:xfrm>
            <a:off x="3429000" y="3566160"/>
            <a:ext cx="22860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CFB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Customers book in minutes — one-off tasks or weekly subscriptions.</a:t>
            </a:r>
            <a:endParaRPr lang="en-US" sz="1100" dirty="0"/>
          </a:p>
        </p:txBody>
      </p:sp>
      <p:sp>
        <p:nvSpPr>
          <p:cNvPr id="13" name="Shape 9"/>
          <p:cNvSpPr/>
          <p:nvPr/>
        </p:nvSpPr>
        <p:spPr>
          <a:xfrm>
            <a:off x="6126480" y="2468880"/>
            <a:ext cx="2560320" cy="2331720"/>
          </a:xfrm>
          <a:prstGeom prst="rect">
            <a:avLst/>
          </a:prstGeom>
          <a:solidFill>
            <a:srgbClr val="0D9488">
              <a:alpha val="25000"/>
            </a:srgbClr>
          </a:solidFill>
          <a:ln/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0" y="2633472"/>
            <a:ext cx="411480" cy="411480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6263640" y="310896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Community-first</a:t>
            </a:r>
            <a:endParaRPr lang="en-US" sz="1300" dirty="0"/>
          </a:p>
        </p:txBody>
      </p:sp>
      <p:sp>
        <p:nvSpPr>
          <p:cNvPr id="16" name="Text 11"/>
          <p:cNvSpPr/>
          <p:nvPr/>
        </p:nvSpPr>
        <p:spPr>
          <a:xfrm>
            <a:off x="6263640" y="3566160"/>
            <a:ext cx="22860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CFB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around the people and neighbourhoods that need it most.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64592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How It Works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1234440" y="1188720"/>
            <a:ext cx="1005840" cy="1005840"/>
          </a:xfrm>
          <a:prstGeom prst="ellipse">
            <a:avLst/>
          </a:prstGeom>
          <a:solidFill>
            <a:srgbClr val="0D9488"/>
          </a:solidFill>
          <a:ln/>
        </p:spPr>
      </p:sp>
      <p:sp>
        <p:nvSpPr>
          <p:cNvPr id="5" name="Text 3"/>
          <p:cNvSpPr/>
          <p:nvPr/>
        </p:nvSpPr>
        <p:spPr>
          <a:xfrm>
            <a:off x="1234440" y="1207008"/>
            <a:ext cx="1005840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3200" dirty="0"/>
          </a:p>
        </p:txBody>
      </p:sp>
      <p:sp>
        <p:nvSpPr>
          <p:cNvPr id="6" name="Shape 4"/>
          <p:cNvSpPr/>
          <p:nvPr/>
        </p:nvSpPr>
        <p:spPr>
          <a:xfrm>
            <a:off x="3063240" y="1636776"/>
            <a:ext cx="457200" cy="54864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7" name="Shape 5"/>
          <p:cNvSpPr/>
          <p:nvPr/>
        </p:nvSpPr>
        <p:spPr>
          <a:xfrm>
            <a:off x="457200" y="2377440"/>
            <a:ext cx="2560320" cy="242316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251460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3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Book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594360" y="3017520"/>
            <a:ext cx="228600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 selects a service, picks a date &amp; time, adds instructions and pays securely through the platform.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4069080" y="1188720"/>
            <a:ext cx="1005840" cy="1005840"/>
          </a:xfrm>
          <a:prstGeom prst="ellipse">
            <a:avLst/>
          </a:prstGeom>
          <a:solidFill>
            <a:srgbClr val="0D9488"/>
          </a:solidFill>
          <a:ln/>
        </p:spPr>
      </p:sp>
      <p:sp>
        <p:nvSpPr>
          <p:cNvPr id="11" name="Text 9"/>
          <p:cNvSpPr/>
          <p:nvPr/>
        </p:nvSpPr>
        <p:spPr>
          <a:xfrm>
            <a:off x="4069080" y="1207008"/>
            <a:ext cx="1005840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3200" dirty="0"/>
          </a:p>
        </p:txBody>
      </p:sp>
      <p:sp>
        <p:nvSpPr>
          <p:cNvPr id="12" name="Shape 10"/>
          <p:cNvSpPr/>
          <p:nvPr/>
        </p:nvSpPr>
        <p:spPr>
          <a:xfrm>
            <a:off x="5897880" y="1636776"/>
            <a:ext cx="457200" cy="54864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13" name="Shape 11"/>
          <p:cNvSpPr/>
          <p:nvPr/>
        </p:nvSpPr>
        <p:spPr>
          <a:xfrm>
            <a:off x="3291840" y="2377440"/>
            <a:ext cx="2560320" cy="242316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3429000" y="251460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3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Match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3429000" y="3017520"/>
            <a:ext cx="228600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approved runner in the customer's area is assigned to the booking. Both parties are notified.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6903720" y="1188720"/>
            <a:ext cx="1005840" cy="1005840"/>
          </a:xfrm>
          <a:prstGeom prst="ellipse">
            <a:avLst/>
          </a:prstGeom>
          <a:solidFill>
            <a:srgbClr val="0D9488"/>
          </a:solidFill>
          <a:ln/>
        </p:spPr>
      </p:sp>
      <p:sp>
        <p:nvSpPr>
          <p:cNvPr id="17" name="Text 15"/>
          <p:cNvSpPr/>
          <p:nvPr/>
        </p:nvSpPr>
        <p:spPr>
          <a:xfrm>
            <a:off x="6903720" y="1207008"/>
            <a:ext cx="1005840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3200" dirty="0"/>
          </a:p>
        </p:txBody>
      </p:sp>
      <p:sp>
        <p:nvSpPr>
          <p:cNvPr id="18" name="Shape 16"/>
          <p:cNvSpPr/>
          <p:nvPr/>
        </p:nvSpPr>
        <p:spPr>
          <a:xfrm>
            <a:off x="6126480" y="2377440"/>
            <a:ext cx="2560320" cy="242316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6263640" y="251460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3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Done</a:t>
            </a:r>
            <a:endParaRPr lang="en-US" sz="1700" dirty="0"/>
          </a:p>
        </p:txBody>
      </p:sp>
      <p:sp>
        <p:nvSpPr>
          <p:cNvPr id="20" name="Text 18"/>
          <p:cNvSpPr/>
          <p:nvPr/>
        </p:nvSpPr>
        <p:spPr>
          <a:xfrm>
            <a:off x="6263640" y="3017520"/>
            <a:ext cx="228600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runner completes the errand and the customer confirms. The runner is paid. A review can be left.</a:t>
            </a:r>
            <a:endParaRPr lang="en-US" sz="11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64592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We Help With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841248" y="1234440"/>
            <a:ext cx="914400" cy="914400"/>
          </a:xfrm>
          <a:prstGeom prst="ellipse">
            <a:avLst/>
          </a:prstGeom>
          <a:solidFill>
            <a:srgbClr val="CCFBF1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8408" y="1371600"/>
            <a:ext cx="640080" cy="64008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457200" y="2331720"/>
            <a:ext cx="167335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Prescription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Pickup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2514600" y="1234440"/>
            <a:ext cx="914400" cy="914400"/>
          </a:xfrm>
          <a:prstGeom prst="ellipse">
            <a:avLst/>
          </a:prstGeom>
          <a:solidFill>
            <a:srgbClr val="CCFBF1"/>
          </a:solidFill>
          <a:ln/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51760" y="1371600"/>
            <a:ext cx="640080" cy="64008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2130552" y="2331720"/>
            <a:ext cx="167335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Grocery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Shopping</a:t>
            </a:r>
            <a:endParaRPr lang="en-US" sz="1200" dirty="0"/>
          </a:p>
        </p:txBody>
      </p:sp>
      <p:sp>
        <p:nvSpPr>
          <p:cNvPr id="10" name="Shape 6"/>
          <p:cNvSpPr/>
          <p:nvPr/>
        </p:nvSpPr>
        <p:spPr>
          <a:xfrm>
            <a:off x="4187952" y="1234440"/>
            <a:ext cx="914400" cy="914400"/>
          </a:xfrm>
          <a:prstGeom prst="ellipse">
            <a:avLst/>
          </a:prstGeom>
          <a:solidFill>
            <a:srgbClr val="CCFBF1"/>
          </a:solidFill>
          <a:ln/>
        </p:spPr>
      </p:sp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25112" y="1371600"/>
            <a:ext cx="640080" cy="640080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3803904" y="2331720"/>
            <a:ext cx="167335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Dog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Walking</a:t>
            </a:r>
            <a:endParaRPr lang="en-US" sz="1200" dirty="0"/>
          </a:p>
        </p:txBody>
      </p:sp>
      <p:sp>
        <p:nvSpPr>
          <p:cNvPr id="13" name="Shape 8"/>
          <p:cNvSpPr/>
          <p:nvPr/>
        </p:nvSpPr>
        <p:spPr>
          <a:xfrm>
            <a:off x="5861304" y="1234440"/>
            <a:ext cx="914400" cy="914400"/>
          </a:xfrm>
          <a:prstGeom prst="ellipse">
            <a:avLst/>
          </a:prstGeom>
          <a:solidFill>
            <a:srgbClr val="CCFBF1"/>
          </a:solidFill>
          <a:ln/>
        </p:spPr>
      </p:sp>
      <p:pic>
        <p:nvPicPr>
          <p:cNvPr id="1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98464" y="1371600"/>
            <a:ext cx="640080" cy="640080"/>
          </a:xfrm>
          <a:prstGeom prst="rect">
            <a:avLst/>
          </a:prstGeom>
        </p:spPr>
      </p:pic>
      <p:sp>
        <p:nvSpPr>
          <p:cNvPr id="15" name="Text 9"/>
          <p:cNvSpPr/>
          <p:nvPr/>
        </p:nvSpPr>
        <p:spPr>
          <a:xfrm>
            <a:off x="5477256" y="2331720"/>
            <a:ext cx="167335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Dry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Cleaning</a:t>
            </a:r>
            <a:endParaRPr lang="en-US" sz="1200" dirty="0"/>
          </a:p>
        </p:txBody>
      </p:sp>
      <p:sp>
        <p:nvSpPr>
          <p:cNvPr id="16" name="Shape 10"/>
          <p:cNvSpPr/>
          <p:nvPr/>
        </p:nvSpPr>
        <p:spPr>
          <a:xfrm>
            <a:off x="7534656" y="1234440"/>
            <a:ext cx="914400" cy="914400"/>
          </a:xfrm>
          <a:prstGeom prst="ellipse">
            <a:avLst/>
          </a:prstGeom>
          <a:solidFill>
            <a:srgbClr val="CCFBF1"/>
          </a:solidFill>
          <a:ln/>
        </p:spPr>
      </p:sp>
      <p:pic>
        <p:nvPicPr>
          <p:cNvPr id="17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71816" y="1371600"/>
            <a:ext cx="640080" cy="640080"/>
          </a:xfrm>
          <a:prstGeom prst="rect">
            <a:avLst/>
          </a:prstGeom>
        </p:spPr>
      </p:pic>
      <p:sp>
        <p:nvSpPr>
          <p:cNvPr id="18" name="Text 11"/>
          <p:cNvSpPr/>
          <p:nvPr/>
        </p:nvSpPr>
        <p:spPr>
          <a:xfrm>
            <a:off x="7150608" y="2331720"/>
            <a:ext cx="167335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General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Errands</a:t>
            </a:r>
            <a:endParaRPr lang="en-US" sz="1200" dirty="0"/>
          </a:p>
        </p:txBody>
      </p:sp>
      <p:sp>
        <p:nvSpPr>
          <p:cNvPr id="19" name="Shape 12"/>
          <p:cNvSpPr/>
          <p:nvPr/>
        </p:nvSpPr>
        <p:spPr>
          <a:xfrm>
            <a:off x="0" y="3246120"/>
            <a:ext cx="9144000" cy="1897380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20" name="Text 13"/>
          <p:cNvSpPr/>
          <p:nvPr/>
        </p:nvSpPr>
        <p:spPr>
          <a:xfrm>
            <a:off x="548640" y="3429000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CFB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Bookings available as:</a:t>
            </a:r>
            <a:endParaRPr lang="en-US" sz="1400" dirty="0"/>
          </a:p>
        </p:txBody>
      </p:sp>
      <p:pic>
        <p:nvPicPr>
          <p:cNvPr id="21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8640" y="3931920"/>
            <a:ext cx="320040" cy="320040"/>
          </a:xfrm>
          <a:prstGeom prst="rect">
            <a:avLst/>
          </a:prstGeom>
        </p:spPr>
      </p:pic>
      <p:sp>
        <p:nvSpPr>
          <p:cNvPr id="22" name="Text 14"/>
          <p:cNvSpPr/>
          <p:nvPr/>
        </p:nvSpPr>
        <p:spPr>
          <a:xfrm>
            <a:off x="1005840" y="3913632"/>
            <a:ext cx="3291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One-off tasks</a:t>
            </a:r>
            <a:endParaRPr lang="en-US" sz="1300" dirty="0"/>
          </a:p>
        </p:txBody>
      </p:sp>
      <p:sp>
        <p:nvSpPr>
          <p:cNvPr id="23" name="Text 15"/>
          <p:cNvSpPr/>
          <p:nvPr/>
        </p:nvSpPr>
        <p:spPr>
          <a:xfrm>
            <a:off x="1005840" y="4279392"/>
            <a:ext cx="3291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CFB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 per errand — great for occasional needs</a:t>
            </a:r>
            <a:endParaRPr lang="en-US" sz="1100" dirty="0"/>
          </a:p>
        </p:txBody>
      </p:sp>
      <p:pic>
        <p:nvPicPr>
          <p:cNvPr id="24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663440" y="3931920"/>
            <a:ext cx="320040" cy="320040"/>
          </a:xfrm>
          <a:prstGeom prst="rect">
            <a:avLst/>
          </a:prstGeom>
        </p:spPr>
      </p:pic>
      <p:sp>
        <p:nvSpPr>
          <p:cNvPr id="25" name="Text 16"/>
          <p:cNvSpPr/>
          <p:nvPr/>
        </p:nvSpPr>
        <p:spPr>
          <a:xfrm>
            <a:off x="5120640" y="3913632"/>
            <a:ext cx="3291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Weekly subscriptions</a:t>
            </a:r>
            <a:endParaRPr lang="en-US" sz="1300" dirty="0"/>
          </a:p>
        </p:txBody>
      </p:sp>
      <p:sp>
        <p:nvSpPr>
          <p:cNvPr id="26" name="Text 17"/>
          <p:cNvSpPr/>
          <p:nvPr/>
        </p:nvSpPr>
        <p:spPr>
          <a:xfrm>
            <a:off x="5120640" y="4279392"/>
            <a:ext cx="3291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CFB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Recurring weekly booking — ideal for ongoing support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64592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Two Sides of the Community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320040" y="1143000"/>
            <a:ext cx="3931920" cy="3749040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1280160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CCFB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CUSTOMERS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02920" y="169164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People who need support</a:t>
            </a:r>
            <a:endParaRPr lang="en-US" sz="15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2240280"/>
            <a:ext cx="256032" cy="256032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41248" y="2221992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Elderly residents living independently</a:t>
            </a:r>
            <a:endParaRPr lang="en-US" sz="12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807208"/>
            <a:ext cx="256032" cy="256032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841248" y="2788920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People with disabilities or chronic illness</a:t>
            </a:r>
            <a:endParaRPr lang="en-US" sz="1200" dirty="0"/>
          </a:p>
        </p:txBody>
      </p:sp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3374136"/>
            <a:ext cx="256032" cy="256032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841248" y="3355848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Carers and busy families</a:t>
            </a:r>
            <a:endParaRPr lang="en-US" sz="1200" dirty="0"/>
          </a:p>
        </p:txBody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2920" y="3941064"/>
            <a:ext cx="256032" cy="256032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841248" y="3922776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Anyone who values their time</a:t>
            </a:r>
            <a:endParaRPr lang="en-US" sz="1200" dirty="0"/>
          </a:p>
        </p:txBody>
      </p:sp>
      <p:sp>
        <p:nvSpPr>
          <p:cNvPr id="15" name="Shape 9"/>
          <p:cNvSpPr/>
          <p:nvPr/>
        </p:nvSpPr>
        <p:spPr>
          <a:xfrm>
            <a:off x="4892040" y="1143000"/>
            <a:ext cx="3931920" cy="3749040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16" name="Text 10"/>
          <p:cNvSpPr/>
          <p:nvPr/>
        </p:nvSpPr>
        <p:spPr>
          <a:xfrm>
            <a:off x="5074920" y="1280160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RUNNERS</a:t>
            </a:r>
            <a:endParaRPr lang="en-US" sz="1300" dirty="0"/>
          </a:p>
        </p:txBody>
      </p:sp>
      <p:sp>
        <p:nvSpPr>
          <p:cNvPr id="17" name="Text 11"/>
          <p:cNvSpPr/>
          <p:nvPr/>
        </p:nvSpPr>
        <p:spPr>
          <a:xfrm>
            <a:off x="5074920" y="169164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People who want to earn locally</a:t>
            </a:r>
            <a:endParaRPr lang="en-US" sz="1500" dirty="0"/>
          </a:p>
        </p:txBody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74920" y="2240280"/>
            <a:ext cx="256032" cy="256032"/>
          </a:xfrm>
          <a:prstGeom prst="rect">
            <a:avLst/>
          </a:prstGeom>
        </p:spPr>
      </p:pic>
      <p:sp>
        <p:nvSpPr>
          <p:cNvPr id="19" name="Text 12"/>
          <p:cNvSpPr/>
          <p:nvPr/>
        </p:nvSpPr>
        <p:spPr>
          <a:xfrm>
            <a:off x="5413248" y="2221992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Flexible, local income</a:t>
            </a:r>
            <a:endParaRPr lang="en-US" sz="1200" dirty="0"/>
          </a:p>
        </p:txBody>
      </p:sp>
      <p:pic>
        <p:nvPicPr>
          <p:cNvPr id="20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074920" y="2807208"/>
            <a:ext cx="256032" cy="256032"/>
          </a:xfrm>
          <a:prstGeom prst="rect">
            <a:avLst/>
          </a:prstGeom>
        </p:spPr>
      </p:pic>
      <p:sp>
        <p:nvSpPr>
          <p:cNvPr id="21" name="Text 13"/>
          <p:cNvSpPr/>
          <p:nvPr/>
        </p:nvSpPr>
        <p:spPr>
          <a:xfrm>
            <a:off x="5413248" y="2788920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Vetted and approved before going live</a:t>
            </a:r>
            <a:endParaRPr lang="en-US" sz="1200" dirty="0"/>
          </a:p>
        </p:txBody>
      </p:sp>
      <p:pic>
        <p:nvPicPr>
          <p:cNvPr id="22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074920" y="3374136"/>
            <a:ext cx="256032" cy="256032"/>
          </a:xfrm>
          <a:prstGeom prst="rect">
            <a:avLst/>
          </a:prstGeom>
        </p:spPr>
      </p:pic>
      <p:sp>
        <p:nvSpPr>
          <p:cNvPr id="23" name="Text 14"/>
          <p:cNvSpPr/>
          <p:nvPr/>
        </p:nvSpPr>
        <p:spPr>
          <a:xfrm>
            <a:off x="5413248" y="3355848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Choose their area and availability</a:t>
            </a:r>
            <a:endParaRPr lang="en-US" sz="1200" dirty="0"/>
          </a:p>
        </p:txBody>
      </p:sp>
      <p:pic>
        <p:nvPicPr>
          <p:cNvPr id="24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074920" y="3941064"/>
            <a:ext cx="256032" cy="256032"/>
          </a:xfrm>
          <a:prstGeom prst="rect">
            <a:avLst/>
          </a:prstGeom>
        </p:spPr>
      </p:pic>
      <p:sp>
        <p:nvSpPr>
          <p:cNvPr id="25" name="Text 15"/>
          <p:cNvSpPr/>
          <p:nvPr/>
        </p:nvSpPr>
        <p:spPr>
          <a:xfrm>
            <a:off x="5413248" y="3922776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Rated by customers after each job</a:t>
            </a:r>
            <a:endParaRPr lang="en-US" sz="1200" dirty="0"/>
          </a:p>
        </p:txBody>
      </p:sp>
      <p:sp>
        <p:nvSpPr>
          <p:cNvPr id="26" name="Shape 16"/>
          <p:cNvSpPr/>
          <p:nvPr/>
        </p:nvSpPr>
        <p:spPr>
          <a:xfrm>
            <a:off x="4160520" y="2514600"/>
            <a:ext cx="822960" cy="822960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27" name="Text 17"/>
          <p:cNvSpPr/>
          <p:nvPr/>
        </p:nvSpPr>
        <p:spPr>
          <a:xfrm>
            <a:off x="4160520" y="2532888"/>
            <a:ext cx="8229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↔</a:t>
            </a:r>
            <a:endParaRPr lang="en-US" sz="2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64592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How We Can Work Together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57200" y="109728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We're not here to replace what you do — we want to extend your reach.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320040" y="1691640"/>
            <a:ext cx="8503920" cy="9144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20040" y="1691640"/>
            <a:ext cx="64008" cy="914400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7" name="Text 5"/>
          <p:cNvSpPr/>
          <p:nvPr/>
        </p:nvSpPr>
        <p:spPr>
          <a:xfrm>
            <a:off x="548640" y="1764792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 residents who need support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48640" y="2103120"/>
            <a:ext cx="8046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 the people you work with — elderly clients, care recipients — to book services through the platform. No admin overhead for you.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320040" y="2743200"/>
            <a:ext cx="8503920" cy="9144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20040" y="2743200"/>
            <a:ext cx="64008" cy="914400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11" name="Text 9"/>
          <p:cNvSpPr/>
          <p:nvPr/>
        </p:nvSpPr>
        <p:spPr>
          <a:xfrm>
            <a:off x="548640" y="2816352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Subsidise errands for vulnerable residents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548640" y="3154680"/>
            <a:ext cx="8046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Councils or charities can fund bookings for residents who need support but can't afford to pay. We handle the logistics.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320040" y="3794760"/>
            <a:ext cx="8503920" cy="9144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320040" y="3794760"/>
            <a:ext cx="64008" cy="914400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15" name="Text 13"/>
          <p:cNvSpPr/>
          <p:nvPr/>
        </p:nvSpPr>
        <p:spPr>
          <a:xfrm>
            <a:off x="548640" y="3867912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local runner opportunities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548640" y="4206240"/>
            <a:ext cx="8046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Partner with us to promote runner sign-ups in your area — giving local people a flexible, community-embedded way to earn.</a:t>
            </a:r>
            <a:endParaRPr lang="en-US" sz="11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64592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Where We Are Today</a:t>
            </a:r>
            <a:endParaRPr lang="en-US" sz="28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207008"/>
            <a:ext cx="320040" cy="32004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960120" y="1179576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Full-stack MVP built</a:t>
            </a:r>
            <a:endParaRPr lang="en-US" sz="1300" dirty="0"/>
          </a:p>
        </p:txBody>
      </p:sp>
      <p:sp>
        <p:nvSpPr>
          <p:cNvPr id="6" name="Text 3"/>
          <p:cNvSpPr/>
          <p:nvPr/>
        </p:nvSpPr>
        <p:spPr>
          <a:xfrm>
            <a:off x="960120" y="1481328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frontend, Node/Express backend, PostgreSQL database</a:t>
            </a:r>
            <a:endParaRPr lang="en-US" sz="1050" dirty="0"/>
          </a:p>
        </p:txBody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828800"/>
            <a:ext cx="320040" cy="32004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960120" y="1801368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Booking flow end-to-end</a:t>
            </a:r>
            <a:endParaRPr lang="en-US" sz="1300" dirty="0"/>
          </a:p>
        </p:txBody>
      </p:sp>
      <p:sp>
        <p:nvSpPr>
          <p:cNvPr id="9" name="Text 5"/>
          <p:cNvSpPr/>
          <p:nvPr/>
        </p:nvSpPr>
        <p:spPr>
          <a:xfrm>
            <a:off x="960120" y="2103120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Customers can book, runners can accept and manage jobs</a:t>
            </a:r>
            <a:endParaRPr lang="en-US" sz="1050" dirty="0"/>
          </a:p>
        </p:txBody>
      </p:sp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2450592"/>
            <a:ext cx="320040" cy="320040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960120" y="2423160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 dashboard</a:t>
            </a:r>
            <a:endParaRPr lang="en-US" sz="1300" dirty="0"/>
          </a:p>
        </p:txBody>
      </p:sp>
      <p:sp>
        <p:nvSpPr>
          <p:cNvPr id="12" name="Text 7"/>
          <p:cNvSpPr/>
          <p:nvPr/>
        </p:nvSpPr>
        <p:spPr>
          <a:xfrm>
            <a:off x="960120" y="2724912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Runner vetting, approval, and platform oversight tools</a:t>
            </a:r>
            <a:endParaRPr lang="en-US" sz="1050" dirty="0"/>
          </a:p>
        </p:txBody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3072384"/>
            <a:ext cx="320040" cy="32004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960120" y="3044952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Payment architecture in place</a:t>
            </a:r>
            <a:endParaRPr lang="en-US" sz="1300" dirty="0"/>
          </a:p>
        </p:txBody>
      </p:sp>
      <p:sp>
        <p:nvSpPr>
          <p:cNvPr id="15" name="Text 9"/>
          <p:cNvSpPr/>
          <p:nvPr/>
        </p:nvSpPr>
        <p:spPr>
          <a:xfrm>
            <a:off x="960120" y="3346704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Stripe Connect-ready — test mode, not live yet</a:t>
            </a:r>
            <a:endParaRPr lang="en-US" sz="1050" dirty="0"/>
          </a:p>
        </p:txBody>
      </p:sp>
      <p:pic>
        <p:nvPicPr>
          <p:cNvPr id="1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" y="3694176"/>
            <a:ext cx="320040" cy="320040"/>
          </a:xfrm>
          <a:prstGeom prst="rect">
            <a:avLst/>
          </a:prstGeom>
        </p:spPr>
      </p:pic>
      <p:sp>
        <p:nvSpPr>
          <p:cNvPr id="17" name="Text 10"/>
          <p:cNvSpPr/>
          <p:nvPr/>
        </p:nvSpPr>
        <p:spPr>
          <a:xfrm>
            <a:off x="960120" y="3666744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real runners onboarded</a:t>
            </a:r>
            <a:endParaRPr lang="en-US" sz="1300" dirty="0"/>
          </a:p>
        </p:txBody>
      </p:sp>
      <p:sp>
        <p:nvSpPr>
          <p:cNvPr id="18" name="Text 11"/>
          <p:cNvSpPr/>
          <p:nvPr/>
        </p:nvSpPr>
        <p:spPr>
          <a:xfrm>
            <a:off x="960120" y="3968496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Seeking community partners to help us identify early runners</a:t>
            </a:r>
            <a:endParaRPr lang="en-US" sz="1050" dirty="0"/>
          </a:p>
        </p:txBody>
      </p:sp>
      <p:pic>
        <p:nvPicPr>
          <p:cNvPr id="1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7200" y="4315968"/>
            <a:ext cx="320040" cy="320040"/>
          </a:xfrm>
          <a:prstGeom prst="rect">
            <a:avLst/>
          </a:prstGeom>
        </p:spPr>
      </p:pic>
      <p:sp>
        <p:nvSpPr>
          <p:cNvPr id="20" name="Text 12"/>
          <p:cNvSpPr/>
          <p:nvPr/>
        </p:nvSpPr>
        <p:spPr>
          <a:xfrm>
            <a:off x="960120" y="4288536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Pilot with local residents</a:t>
            </a:r>
            <a:endParaRPr lang="en-US" sz="1300" dirty="0"/>
          </a:p>
        </p:txBody>
      </p:sp>
      <p:sp>
        <p:nvSpPr>
          <p:cNvPr id="21" name="Text 13"/>
          <p:cNvSpPr/>
          <p:nvPr/>
        </p:nvSpPr>
        <p:spPr>
          <a:xfrm>
            <a:off x="960120" y="4590288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Looking for an org or council willing to co-pilot</a:t>
            </a:r>
            <a:endParaRPr lang="en-US" sz="10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E3A5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914400" y="3200400"/>
            <a:ext cx="5486400" cy="5486400"/>
          </a:xfrm>
          <a:prstGeom prst="ellipse">
            <a:avLst/>
          </a:prstGeom>
          <a:solidFill>
            <a:srgbClr val="0D9488">
              <a:alpha val="15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5720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Let's Talk</a:t>
            </a:r>
            <a:endParaRPr lang="en-US" sz="4200" dirty="0"/>
          </a:p>
        </p:txBody>
      </p:sp>
      <p:sp>
        <p:nvSpPr>
          <p:cNvPr id="4" name="Text 2"/>
          <p:cNvSpPr/>
          <p:nvPr/>
        </p:nvSpPr>
        <p:spPr>
          <a:xfrm>
            <a:off x="548640" y="1371600"/>
            <a:ext cx="6858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CCFB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We're here to validate — not sell.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48640" y="2057400"/>
            <a:ext cx="274320" cy="274320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029968"/>
            <a:ext cx="7498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Does this address a gap you currently see in your community?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48640" y="2715768"/>
            <a:ext cx="274320" cy="274320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2688336"/>
            <a:ext cx="7498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would benefit most from this in the areas you serve?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548640" y="3374136"/>
            <a:ext cx="274320" cy="274320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10" name="Text 8"/>
          <p:cNvSpPr/>
          <p:nvPr/>
        </p:nvSpPr>
        <p:spPr>
          <a:xfrm>
            <a:off x="1005840" y="3346704"/>
            <a:ext cx="7498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would make you confident referring residents to a platform like this?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548640" y="4032504"/>
            <a:ext cx="274320" cy="274320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12" name="Text 10"/>
          <p:cNvSpPr/>
          <p:nvPr/>
        </p:nvSpPr>
        <p:spPr>
          <a:xfrm>
            <a:off x="1005840" y="4005072"/>
            <a:ext cx="7498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there appetite for a subsidised pilot programme?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0" y="4617720"/>
            <a:ext cx="9144000" cy="525780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66344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errandbuddy.app  ·  hello@errandbuddy.app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Errand Buddy — Community Showcase</dc:title>
  <dc:subject>PptxGenJS Presentation</dc:subject>
  <dc:creator>PptxGenJS</dc:creator>
  <cp:lastModifiedBy>PptxGenJS</cp:lastModifiedBy>
  <cp:revision>1</cp:revision>
  <dcterms:created xsi:type="dcterms:W3CDTF">2026-05-22T12:15:56Z</dcterms:created>
  <dcterms:modified xsi:type="dcterms:W3CDTF">2026-05-22T12:15:56Z</dcterms:modified>
</cp:coreProperties>
</file>